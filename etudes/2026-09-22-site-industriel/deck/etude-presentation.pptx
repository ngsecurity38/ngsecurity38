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Document de travail. Les portées sont calculées sur les optiques constructeur ; les emplacements se confirment au relevé sur place.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colonne « identifie » est la seule qui compte devant un tribunal : c’est la distance à laquelle un inconnu devient nommable.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D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ngsecurity38/etudes/2026-09-22-site-industriel/deck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731520"/>
            <a:ext cx="1371600" cy="117043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77240" y="22860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40" kern="0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ÉTUDE TECHNIQUE</a:t>
            </a:r>
            <a:endParaRPr lang="en-US" sz="1300" dirty="0"/>
          </a:p>
        </p:txBody>
      </p:sp>
      <p:sp>
        <p:nvSpPr>
          <p:cNvPr id="4" name="Text 1"/>
          <p:cNvSpPr txBox="1"/>
          <p:nvPr/>
        </p:nvSpPr>
        <p:spPr>
          <a:xfrm>
            <a:off x="777240" y="2651760"/>
            <a:ext cx="10058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Vidéosurveillance</a:t>
            </a:r>
            <a:endParaRPr lang="en-US" sz="4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d’un site industriel</a:t>
            </a:r>
            <a:endParaRPr lang="en-US" sz="4600" dirty="0"/>
          </a:p>
        </p:txBody>
      </p:sp>
      <p:sp>
        <p:nvSpPr>
          <p:cNvPr id="5" name="Text 2"/>
          <p:cNvSpPr txBox="1"/>
          <p:nvPr/>
        </p:nvSpPr>
        <p:spPr>
          <a:xfrm>
            <a:off x="777240" y="44348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9C0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Implantation de 10 caméras · portées calculées · métré des câbles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777240" y="5257800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 Security 38 · SAS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rue des Drillons, 89150 Vernoy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74 11 24 56 · contact@ngsecurity38.com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SIRET 104 732 458 00013 · TVA FR30104732458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8503920" y="525780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Établie le 22 septembre 2026</a:t>
            </a:r>
            <a:endParaRPr lang="en-US" sz="1100" dirty="0"/>
          </a:p>
          <a:p>
            <a:pPr algn="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Référence ETU-2026-09-22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75488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PARC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68096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 que compte l’installation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45920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5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514600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caméras au total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3840480" y="1645920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1A1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5400" dirty="0"/>
          </a:p>
        </p:txBody>
      </p:sp>
      <p:sp>
        <p:nvSpPr>
          <p:cNvPr id="7" name="Text 5"/>
          <p:cNvSpPr txBox="1"/>
          <p:nvPr/>
        </p:nvSpPr>
        <p:spPr>
          <a:xfrm>
            <a:off x="3840480" y="2514600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l’extérieur — entrée, cour, quai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132320" y="1645920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1A1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5400" dirty="0"/>
          </a:p>
        </p:txBody>
      </p:sp>
      <p:sp>
        <p:nvSpPr>
          <p:cNvPr id="9" name="Text 7"/>
          <p:cNvSpPr txBox="1"/>
          <p:nvPr/>
        </p:nvSpPr>
        <p:spPr>
          <a:xfrm>
            <a:off x="7132320" y="2514600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dans la halle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429000"/>
            <a:ext cx="1033272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9525">
            <a:solidFill>
              <a:srgbClr val="DDE1E7"/>
            </a:solidFill>
            <a:prstDash val="solid"/>
          </a:ln>
          <a:effectLst>
            <a:outerShdw sx="100000" sy="100000" kx="0" ky="0" algn="bl" rotWithShape="0" blurRad="76200" dist="12700" dir="5400000">
              <a:srgbClr val="9AA3AE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22960" y="3675888"/>
            <a:ext cx="365760" cy="365760"/>
          </a:xfrm>
          <a:prstGeom prst="ellipse">
            <a:avLst/>
          </a:prstGeom>
          <a:solidFill>
            <a:srgbClr val="1A1D23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22960" y="36758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1325880" y="3639312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Bullet varifocal DS-2CD2683G2-IZS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3895344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 motorisé 2,8 à 12 mm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22960" y="4334256"/>
            <a:ext cx="365760" cy="365760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2960" y="43342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1325880" y="429768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Panoramique DS-2CD2346G2P-ISU/SL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325880" y="4553712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180°, stroboscope et alarme sonore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22960" y="4992624"/>
            <a:ext cx="365760" cy="365760"/>
          </a:xfrm>
          <a:prstGeom prst="ellipse">
            <a:avLst/>
          </a:prstGeom>
          <a:solidFill>
            <a:srgbClr val="1A1D23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22960" y="49926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1325880" y="4956048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Turret DS-2CD2346G2H-IU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325880" y="5212080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2,8 mm, micro intégré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7406640" y="379476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 manque un turret.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7406640" y="411480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commande porte trois varifocals, une panoramique et cinq turrets. Le plan en demande six.</a:t>
            </a:r>
            <a:endParaRPr lang="en-US" sz="1150" dirty="0"/>
          </a:p>
        </p:txBody>
      </p:sp>
      <p:pic>
        <p:nvPicPr>
          <p:cNvPr id="25" name="Image 0" descr="/home/user/ngsecurity38/etudes/2026-09-22-site-industriel/deck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01400" y="6172200"/>
            <a:ext cx="475488" cy="402336"/>
          </a:xfrm>
          <a:prstGeom prst="rect">
            <a:avLst/>
          </a:prstGeom>
        </p:spPr>
      </p:pic>
      <p:sp>
        <p:nvSpPr>
          <p:cNvPr id="26" name="Text 23"/>
          <p:cNvSpPr txBox="1"/>
          <p:nvPr/>
        </p:nvSpPr>
        <p:spPr>
          <a:xfrm>
            <a:off x="548640" y="630936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 Security 38 · ETU-2026-09-22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75488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SYNTHÈSE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68096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dix caméras</a:t>
            </a:r>
            <a:endParaRPr lang="en-US" sz="3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6424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2834640"/>
                <a:gridCol w="3017520"/>
                <a:gridCol w="2926080"/>
                <a:gridCol w="146304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Repère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Zone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Modèle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Rôle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Identifie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Entrée du site — portail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DS-2CD2683G2-IZS · télé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Identification à l'entrée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C81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28,7 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Entrée du site — portail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DS-2CD2346G2H-IU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Contexte de l'entrée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A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4,5 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Cour de manœuvre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DS-2CD2683G2-IZS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Surveillance générale de la cour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C81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5,6 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Cour de manœuvre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DS-2CD2346G2P-ISU/SL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Limite arrière et dissuasion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A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Quai de chargement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DS-2CD2683G2-IZS · télé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Abords du quai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C81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28,7 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Quai de chargement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DS-2CD2346G2H-IU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Porte de quai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A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4,5 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Halle — volume principal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DS-2CD2346G2H-IU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Volume de la halle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A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4,5 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Halle — rideau métallique et zone de stockage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DS-2CD2346G2H-IU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Rideau métallique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A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4,5 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Halle — angle de travail et stock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DS-2CD2346G2H-IU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Angle de travail et stock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A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4,5 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Sas isolé et issue de secours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DS-2CD2346G2H-IU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Sas et issue de secours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A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4,5 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5" name="Image 0" descr="/home/user/ngsecurity38/etudes/2026-09-22-site-industriel/deck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01400" y="6172200"/>
            <a:ext cx="475488" cy="402336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30936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 Security 38 · ETU-2026-09-22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D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20" kern="0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POINT À RETENIR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60120"/>
            <a:ext cx="5852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Deux caméras sur dix identifient au-delà de cinq mètres.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65176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9C0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sont les deux bullets réglés au téléobjectif — 28,7 m. Les six turrets s’arrêtent à 4,5 m, la panoramique à 3 m.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611880"/>
            <a:ext cx="5852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Cela ne les disqualifie pas : elles sont faites pour couvrir, pas pour prouver. Mais cela impose leur place — à l’aplomb des passages, jamais en surplomb d’une cour.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4892040"/>
            <a:ext cx="585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D7D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 est à 25 m du portail — sous les 28,7 m qu’elle identifie. L’entrée est identifiée, pas seulement observée.</a:t>
            </a:r>
            <a:endParaRPr lang="en-US" sz="1300" dirty="0"/>
          </a:p>
        </p:txBody>
      </p:sp>
      <p:pic>
        <p:nvPicPr>
          <p:cNvPr id="7" name="Image 0" descr="/home/user/ngsecurity38/etudes/2026-09-22-site-industriel/deck/mode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1005840"/>
            <a:ext cx="4754880" cy="3246120"/>
          </a:xfrm>
          <a:prstGeom prst="rect">
            <a:avLst/>
          </a:prstGeom>
        </p:spPr>
      </p:pic>
      <p:pic>
        <p:nvPicPr>
          <p:cNvPr id="8" name="Image 1" descr="/home/user/ngsecurity38/etudes/2026-09-22-site-industriel/deck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1400" y="6172200"/>
            <a:ext cx="475488" cy="402336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548640" y="630936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 Security 38 · ETU-2026-09-22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75488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SITE — 100 M DE BÂTIMENT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68096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d’implantation</a:t>
            </a:r>
            <a:endParaRPr lang="en-US" sz="3200" dirty="0"/>
          </a:p>
        </p:txBody>
      </p:sp>
      <p:pic>
        <p:nvPicPr>
          <p:cNvPr id="4" name="Image 0" descr="/home/user/ngsecurity38/etudes/2026-09-22-site-industriel/deck/pl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72768"/>
            <a:ext cx="7635240" cy="42062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458200" y="1572768"/>
            <a:ext cx="3154680" cy="4206240"/>
          </a:xfrm>
          <a:prstGeom prst="roundRect">
            <a:avLst>
              <a:gd name="adj" fmla="val 2319"/>
            </a:avLst>
          </a:prstGeom>
          <a:solidFill>
            <a:srgbClr val="F6F7F9"/>
          </a:solidFill>
          <a:ln w="9525">
            <a:solidFill>
              <a:srgbClr val="DDE1E7"/>
            </a:solidFill>
            <a:prstDash val="solid"/>
          </a:ln>
          <a:effectLst>
            <a:outerShdw sx="100000" sy="100000" kx="0" ky="0" algn="bl" rotWithShape="0" blurRad="76200" dist="12700" dir="5400000">
              <a:srgbClr val="9AA3AE">
                <a:alpha val="1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8732520" y="17830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Comment le lire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8732520" y="2194560"/>
            <a:ext cx="26517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secteur montre trois profondeurs pour la même caméra.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Rouge vif : elle identifie un inconnu.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Rouge pâle : elle reconnaît une personne connue.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Gris : elle observe une action.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rouge vif ne couvre presque rien de la cour — c’est voulu.</a:t>
            </a:r>
            <a:endParaRPr lang="en-US" sz="1150" dirty="0"/>
          </a:p>
        </p:txBody>
      </p:sp>
      <p:pic>
        <p:nvPicPr>
          <p:cNvPr id="8" name="Image 1" descr="/home/user/ngsecurity38/etudes/2026-09-22-site-industriel/deck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1400" y="6172200"/>
            <a:ext cx="475488" cy="402336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548640" y="630936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 Security 38 · ETU-2026-09-22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75488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SITE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68096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Repérage sur la vue aérienne</a:t>
            </a:r>
            <a:endParaRPr lang="en-US" sz="3200" dirty="0"/>
          </a:p>
        </p:txBody>
      </p:sp>
      <p:pic>
        <p:nvPicPr>
          <p:cNvPr id="4" name="Image 0" descr="/home/user/ngsecurity38/etudes/2026-09-22-site-industriel/deck/reper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00200"/>
            <a:ext cx="11064240" cy="39776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56692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secteur indique la direction de visée, pas la portée : une vue oblique ne se mesure pas. Les portées à l’échelle sont au plan masse.</a:t>
            </a:r>
            <a:endParaRPr lang="en-US" sz="1200" dirty="0"/>
          </a:p>
        </p:txBody>
      </p:sp>
      <p:pic>
        <p:nvPicPr>
          <p:cNvPr id="6" name="Image 1" descr="/home/user/ngsecurity38/etudes/2026-09-22-site-industriel/deck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1400" y="6172200"/>
            <a:ext cx="475488" cy="402336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48640" y="630936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 Security 38 · ETU-2026-09-22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75488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HIKVISION DS-7616NXI-K2/16P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68096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Enregistrement et stockage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3736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16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3774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voies utilisées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3291840" y="173736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46,9</a:t>
            </a:r>
            <a:endParaRPr lang="en-US" sz="3600" dirty="0"/>
          </a:p>
        </p:txBody>
      </p:sp>
      <p:sp>
        <p:nvSpPr>
          <p:cNvPr id="7" name="Text 5"/>
          <p:cNvSpPr txBox="1"/>
          <p:nvPr/>
        </p:nvSpPr>
        <p:spPr>
          <a:xfrm>
            <a:off x="3291840" y="23774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Mbit/s sur 160 admis en entrée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6035040" y="173736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18,2 To</a:t>
            </a:r>
            <a:endParaRPr lang="en-US" sz="3600" dirty="0"/>
          </a:p>
        </p:txBody>
      </p:sp>
      <p:sp>
        <p:nvSpPr>
          <p:cNvPr id="9" name="Text 7"/>
          <p:cNvSpPr txBox="1"/>
          <p:nvPr/>
        </p:nvSpPr>
        <p:spPr>
          <a:xfrm>
            <a:off x="6035040" y="23774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30 jours continus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8778240" y="173736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111,5 W</a:t>
            </a:r>
            <a:endParaRPr lang="en-US" sz="3600" dirty="0"/>
          </a:p>
        </p:txBody>
      </p:sp>
      <p:sp>
        <p:nvSpPr>
          <p:cNvPr id="11" name="Text 9"/>
          <p:cNvSpPr txBox="1"/>
          <p:nvPr/>
        </p:nvSpPr>
        <p:spPr>
          <a:xfrm>
            <a:off x="8778240" y="237744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PoE demandés sur 200 disponibles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703320"/>
            <a:ext cx="530352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9525">
            <a:solidFill>
              <a:srgbClr val="DDE1E7"/>
            </a:solidFill>
            <a:prstDash val="solid"/>
          </a:ln>
          <a:effectLst>
            <a:outerShdw sx="100000" sy="100000" kx="0" ky="0" algn="bl" rotWithShape="0" blurRad="76200" dist="12700" dir="5400000">
              <a:srgbClr val="9AA3AE">
                <a:alpha val="18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822960" y="391363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deux disques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4279392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Deux baies plafonnées à 10 To. Deux disques de 10 To donnent 20 To, soit environ 36 jours d’enregistrement continu.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498348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Cette machine ne fait pas de RAID : la perte d’un disque emporte la moitié de la période conservée.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309360" y="3703320"/>
            <a:ext cx="530352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9525">
            <a:solidFill>
              <a:srgbClr val="DDE1E7"/>
            </a:solidFill>
            <a:prstDash val="solid"/>
          </a:ln>
          <a:effectLst>
            <a:outerShdw sx="100000" sy="100000" kx="0" ky="0" algn="bl" rotWithShape="0" blurRad="76200" dist="12700" dir="5400000">
              <a:srgbClr val="9AA3AE">
                <a:alpha val="18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6583680" y="391363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 que le /16P change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583680" y="4279392"/>
            <a:ext cx="4754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L’enregistreur porte ses seize ports PoE : le commutateur séparé sort du projet. Les coffrets déportés, eux, restent — ils répondent à une distance, pas à un manque de ports.</a:t>
            </a:r>
            <a:endParaRPr lang="en-US" sz="1200" dirty="0"/>
          </a:p>
        </p:txBody>
      </p:sp>
      <p:pic>
        <p:nvPicPr>
          <p:cNvPr id="19" name="Image 0" descr="/home/user/ngsecurity38/etudes/2026-09-22-site-industriel/deck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01400" y="6172200"/>
            <a:ext cx="475488" cy="402336"/>
          </a:xfrm>
          <a:prstGeom prst="rect">
            <a:avLst/>
          </a:prstGeom>
        </p:spPr>
      </p:pic>
      <p:sp>
        <p:nvSpPr>
          <p:cNvPr id="20" name="Text 17"/>
          <p:cNvSpPr txBox="1"/>
          <p:nvPr/>
        </p:nvSpPr>
        <p:spPr>
          <a:xfrm>
            <a:off x="548640" y="630936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 Security 38 · ETU-2026-09-22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75488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CÂBLAGE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68096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Trois coffrets, et pas un de trop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 mètres de bâtiment ne se franchissent pas d’une seule liaison Ethernet — la norme s’arrête à 90 m de câble posé — et le local est à l’étage des bureaux, donc à une extrémité.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352044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9525">
            <a:solidFill>
              <a:srgbClr val="DDE1E7"/>
            </a:solidFill>
            <a:prstDash val="solid"/>
          </a:ln>
          <a:effectLst>
            <a:outerShdw sx="100000" sy="100000" kx="0" ky="0" algn="bl" rotWithShape="0" blurRad="76200" dist="12700" dir="5400000">
              <a:srgbClr val="9AA3AE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2560320"/>
            <a:ext cx="402336" cy="402336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04672" y="25603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1325880" y="256032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Coffret de cour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04672" y="3090672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Commutateur PoE 8 ports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804672" y="379476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Montante 38 m — depuis le local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279392" y="2331720"/>
            <a:ext cx="352044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9525">
            <a:solidFill>
              <a:srgbClr val="DDE1E7"/>
            </a:solidFill>
            <a:prstDash val="solid"/>
          </a:ln>
          <a:effectLst>
            <a:outerShdw sx="100000" sy="100000" kx="0" ky="0" algn="bl" rotWithShape="0" blurRad="76200" dist="12700" dir="5400000">
              <a:srgbClr val="9AA3AE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35424" y="2560320"/>
            <a:ext cx="402336" cy="402336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535424" y="25603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5056632" y="256032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Relais médian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535424" y="3090672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Commutateur PoE 8 ports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4535424" y="379476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Montante 72 m — depuis le local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010144" y="2331720"/>
            <a:ext cx="352044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9525">
            <a:solidFill>
              <a:srgbClr val="DDE1E7"/>
            </a:solidFill>
            <a:prstDash val="solid"/>
          </a:ln>
          <a:effectLst>
            <a:outerShdw sx="100000" sy="100000" kx="0" ky="0" algn="bl" rotWithShape="0" blurRad="76200" dist="12700" dir="5400000">
              <a:srgbClr val="9AA3AE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266176" y="2560320"/>
            <a:ext cx="402336" cy="402336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266176" y="25603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8787384" y="256032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Coffret d'entrée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8266176" y="3090672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Commutateur PoE 8 ports et alimentation 12 V du verrouillage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8266176" y="379476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Montante 53 m — depuis R2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452628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R3 est branché derrière R2, pas sur le local : un commutateur en relaie un autre, et chaque saut reste dans la norme.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498348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746 m</a:t>
            </a:r>
            <a:endParaRPr lang="en-US" sz="36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56235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câble réseau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3566160" y="498348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600" dirty="0"/>
          </a:p>
        </p:txBody>
      </p:sp>
      <p:sp>
        <p:nvSpPr>
          <p:cNvPr id="27" name="Text 25"/>
          <p:cNvSpPr txBox="1"/>
          <p:nvPr/>
        </p:nvSpPr>
        <p:spPr>
          <a:xfrm>
            <a:off x="3566160" y="56235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boîtes de 305 m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6583680" y="498348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493 m</a:t>
            </a:r>
            <a:endParaRPr lang="en-US" sz="3600" dirty="0"/>
          </a:p>
        </p:txBody>
      </p:sp>
      <p:sp>
        <p:nvSpPr>
          <p:cNvPr id="29" name="Text 27"/>
          <p:cNvSpPr txBox="1"/>
          <p:nvPr/>
        </p:nvSpPr>
        <p:spPr>
          <a:xfrm>
            <a:off x="6583680" y="56235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d’alimentation et de commande</a:t>
            </a:r>
            <a:endParaRPr lang="en-US" sz="1150" dirty="0"/>
          </a:p>
        </p:txBody>
      </p:sp>
      <p:sp>
        <p:nvSpPr>
          <p:cNvPr id="30" name="Text 28"/>
          <p:cNvSpPr txBox="1"/>
          <p:nvPr/>
        </p:nvSpPr>
        <p:spPr>
          <a:xfrm>
            <a:off x="9601200" y="498348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3600" dirty="0"/>
          </a:p>
        </p:txBody>
      </p:sp>
      <p:sp>
        <p:nvSpPr>
          <p:cNvPr id="31" name="Text 29"/>
          <p:cNvSpPr txBox="1"/>
          <p:nvPr/>
        </p:nvSpPr>
        <p:spPr>
          <a:xfrm>
            <a:off x="9601200" y="56235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liaison hors norme</a:t>
            </a:r>
            <a:endParaRPr lang="en-US" sz="1150" dirty="0"/>
          </a:p>
        </p:txBody>
      </p:sp>
      <p:pic>
        <p:nvPicPr>
          <p:cNvPr id="32" name="Image 0" descr="/home/user/ngsecurity38/etudes/2026-09-22-site-industriel/deck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01400" y="6172200"/>
            <a:ext cx="475488" cy="402336"/>
          </a:xfrm>
          <a:prstGeom prst="rect">
            <a:avLst/>
          </a:prstGeom>
        </p:spPr>
      </p:pic>
      <p:sp>
        <p:nvSpPr>
          <p:cNvPr id="33" name="Text 30"/>
          <p:cNvSpPr txBox="1"/>
          <p:nvPr/>
        </p:nvSpPr>
        <p:spPr>
          <a:xfrm>
            <a:off x="548640" y="630936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 Security 38 · ETU-2026-09-22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75488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AUTONOMIE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68096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 qui se passe à la coupure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L’enregistreur n’a pas de batterie, et ses ports PoE s’arrêtent avec lui — donc les caméras qu’ils alimentent aussi.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585216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9525">
            <a:solidFill>
              <a:srgbClr val="DDE1E7"/>
            </a:solidFill>
            <a:prstDash val="solid"/>
          </a:ln>
          <a:effectLst>
            <a:outerShdw sx="100000" sy="100000" kx="0" ky="0" algn="bl" rotWithShape="0" blurRad="76200" dist="12700" dir="5400000">
              <a:srgbClr val="9AA3AE">
                <a:alpha val="1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22960" y="2359152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piège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724912"/>
            <a:ext cx="5303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site compte 4 zones d’alimentation, chacune sur sa propre arrivée 230 V. Un onduleur au local seul, et 9 caméras sur 10 restent éteintes — seule C10 tiendrait. L’installation fonctionnerait parfaitement, et la preuve serait vide.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88620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 faut secourir les 4 zones, ou aucune.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675120" y="2148840"/>
            <a:ext cx="493776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9525">
            <a:solidFill>
              <a:srgbClr val="DDE1E7"/>
            </a:solidFill>
            <a:prstDash val="solid"/>
          </a:ln>
          <a:effectLst>
            <a:outerShdw sx="100000" sy="100000" kx="0" ky="0" algn="bl" rotWithShape="0" blurRad="76200" dist="12700" dir="5400000">
              <a:srgbClr val="9AA3AE">
                <a:alpha val="1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949440" y="235915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Quelle batterie</a:t>
            </a:r>
            <a:endParaRPr lang="en-US" sz="15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49440" y="2724912"/>
          <a:ext cx="438912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051560"/>
                <a:gridCol w="1051560"/>
                <a:gridCol w="1097280"/>
              </a:tblGrid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Onduleur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 W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118 Wh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235 Wh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 VA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120 W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176 Wh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353 Wh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 VA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160 W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235 Wh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471 Wh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 VA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 W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294 Wh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588 Wh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400 VA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9"/>
          <p:cNvSpPr txBox="1"/>
          <p:nvPr/>
        </p:nvSpPr>
        <p:spPr>
          <a:xfrm>
            <a:off x="548640" y="46634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Deux corrections sont incluses : la conversion perd 15 %, et une batterie au plomb vidée à fond ne s’en remet pas — on ne compte que 80 % de sa capacité. Les négliger fait annoncer une heure là où l’installation en tient quarante minutes.</a:t>
            </a:r>
            <a:endParaRPr lang="en-US" sz="1250" dirty="0"/>
          </a:p>
        </p:txBody>
      </p:sp>
      <p:pic>
        <p:nvPicPr>
          <p:cNvPr id="13" name="Image 0" descr="/home/user/ngsecurity38/etudes/2026-09-22-site-industriel/deck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01400" y="6172200"/>
            <a:ext cx="475488" cy="402336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548640" y="630936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 Security 38 · ETU-2026-09-22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75488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68096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L’écran de supervision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Il me faut combien de pouces ? » est la question à laquelle on répond en dernier.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5394960" cy="1417320"/>
          </a:xfrm>
          <a:prstGeom prst="roundRect">
            <a:avLst>
              <a:gd name="adj" fmla="val 5161"/>
            </a:avLst>
          </a:prstGeom>
          <a:solidFill>
            <a:srgbClr val="F6F7F9"/>
          </a:solidFill>
          <a:ln w="9525">
            <a:solidFill>
              <a:srgbClr val="DDE1E7"/>
            </a:solidFill>
            <a:prstDash val="solid"/>
          </a:ln>
          <a:effectLst>
            <a:outerShdw sx="100000" sy="100000" kx="0" ky="0" algn="bl" rotWithShape="0" blurRad="76200" dist="12700" dir="5400000">
              <a:srgbClr val="9AA3AE">
                <a:alpha val="1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22960" y="230428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nombre de caméras décide la DÉFINITION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65176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caméras s’affichent en mosaïque 4 × 4. En Full HD chaque vignette tombe à 480 × 270 px : on voit que ça bouge, jamais qui. Le 4K est le minimum.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17920" y="2103120"/>
            <a:ext cx="5394960" cy="1417320"/>
          </a:xfrm>
          <a:prstGeom prst="roundRect">
            <a:avLst>
              <a:gd name="adj" fmla="val 5161"/>
            </a:avLst>
          </a:prstGeom>
          <a:solidFill>
            <a:srgbClr val="F6F7F9"/>
          </a:solidFill>
          <a:ln w="9525">
            <a:solidFill>
              <a:srgbClr val="DDE1E7"/>
            </a:solidFill>
            <a:prstDash val="solid"/>
          </a:ln>
          <a:effectLst>
            <a:outerShdw sx="100000" sy="100000" kx="0" ky="0" algn="bl" rotWithShape="0" blurRad="76200" dist="12700" dir="5400000">
              <a:srgbClr val="9AA3AE">
                <a:alpha val="1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492240" y="230428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recul de l’opérateur décide la DIAGONALE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6492240" y="265176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lui seul. Un écran trop grand de près force à balayer de la tête ; trop petit de loin, il cache ce que sa définition contenait pourtant.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3794760"/>
            <a:ext cx="35204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DDE1E7"/>
            </a:solidFill>
            <a:prstDash val="solid"/>
          </a:ln>
          <a:effectLst>
            <a:outerShdw sx="100000" sy="100000" kx="0" ky="0" algn="bl" rotWithShape="0" blurRad="76200" dist="12700" dir="5400000">
              <a:srgbClr val="9AA3AE">
                <a:alpha val="1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822960" y="397764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27"</a:t>
            </a:r>
            <a:endParaRPr lang="en-US" sz="40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4681728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1,5 m de recul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498348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4K UHD — vignette 960 × 540 px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279392" y="3794760"/>
            <a:ext cx="35204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DDE1E7"/>
            </a:solidFill>
            <a:prstDash val="solid"/>
          </a:ln>
          <a:effectLst>
            <a:outerShdw sx="100000" sy="100000" kx="0" ky="0" algn="bl" rotWithShape="0" blurRad="76200" dist="12700" dir="5400000">
              <a:srgbClr val="9AA3AE">
                <a:alpha val="18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4553712" y="397764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43"</a:t>
            </a:r>
            <a:endParaRPr lang="en-US" sz="4000" dirty="0"/>
          </a:p>
        </p:txBody>
      </p:sp>
      <p:sp>
        <p:nvSpPr>
          <p:cNvPr id="17" name="Text 15"/>
          <p:cNvSpPr txBox="1"/>
          <p:nvPr/>
        </p:nvSpPr>
        <p:spPr>
          <a:xfrm>
            <a:off x="4553712" y="4681728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2 m de recul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4553712" y="498348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4K UHD — vignette 960 × 540 px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010144" y="3794760"/>
            <a:ext cx="35204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DDE1E7"/>
            </a:solidFill>
            <a:prstDash val="solid"/>
          </a:ln>
          <a:effectLst>
            <a:outerShdw sx="100000" sy="100000" kx="0" ky="0" algn="bl" rotWithShape="0" blurRad="76200" dist="12700" dir="5400000">
              <a:srgbClr val="9AA3AE">
                <a:alpha val="18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8284464" y="397764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50"</a:t>
            </a:r>
            <a:endParaRPr lang="en-US" sz="4000" dirty="0"/>
          </a:p>
        </p:txBody>
      </p:sp>
      <p:sp>
        <p:nvSpPr>
          <p:cNvPr id="21" name="Text 19"/>
          <p:cNvSpPr txBox="1"/>
          <p:nvPr/>
        </p:nvSpPr>
        <p:spPr>
          <a:xfrm>
            <a:off x="8284464" y="4681728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3 m de recul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8284464" y="498348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4K UHD — vignette 960 × 540 px</a:t>
            </a:r>
            <a:endParaRPr lang="en-US" sz="1100" dirty="0"/>
          </a:p>
        </p:txBody>
      </p:sp>
      <p:pic>
        <p:nvPicPr>
          <p:cNvPr id="23" name="Image 0" descr="/home/user/ngsecurity38/etudes/2026-09-22-site-industriel/deck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01400" y="6172200"/>
            <a:ext cx="475488" cy="402336"/>
          </a:xfrm>
          <a:prstGeom prst="rect">
            <a:avLst/>
          </a:prstGeom>
        </p:spPr>
      </p:pic>
      <p:sp>
        <p:nvSpPr>
          <p:cNvPr id="24" name="Text 21"/>
          <p:cNvSpPr txBox="1"/>
          <p:nvPr/>
        </p:nvSpPr>
        <p:spPr>
          <a:xfrm>
            <a:off x="548640" y="630936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 Security 38 · ETU-2026-09-22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75488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68096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Contrôle d’accès et interphonie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7276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Hikvision DS-KIS902-S — Kit d'interphonie vidéo IP, alimenté en PoE.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53949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9525">
            <a:solidFill>
              <a:srgbClr val="DDE1E7"/>
            </a:solidFill>
            <a:prstDash val="solid"/>
          </a:ln>
          <a:effectLst>
            <a:outerShdw sx="100000" sy="100000" kx="0" ky="0" algn="bl" rotWithShape="0" blurRad="76200" dist="12700" dir="5400000">
              <a:srgbClr val="9AA3AE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313432"/>
            <a:ext cx="365760" cy="365760"/>
          </a:xfrm>
          <a:prstGeom prst="ellipse">
            <a:avLst/>
          </a:prstGeom>
          <a:solidFill>
            <a:srgbClr val="1A1D23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23134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1325880" y="2295144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Ouverture à distance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25880" y="2633472"/>
            <a:ext cx="4343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Depuis le moniteur intérieur ou depuis le téléphone, où que soit le responsable.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17920" y="2057400"/>
            <a:ext cx="53949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9525">
            <a:solidFill>
              <a:srgbClr val="DDE1E7"/>
            </a:solidFill>
            <a:prstDash val="solid"/>
          </a:ln>
          <a:effectLst>
            <a:outerShdw sx="100000" sy="100000" kx="0" ky="0" algn="bl" rotWithShape="0" blurRad="76200" dist="12700" dir="5400000">
              <a:srgbClr val="9AA3AE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92240" y="2313432"/>
            <a:ext cx="365760" cy="365760"/>
          </a:xfrm>
          <a:prstGeom prst="ellipse">
            <a:avLst/>
          </a:prstGeom>
          <a:solidFill>
            <a:srgbClr val="1A1D23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92240" y="23134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6995160" y="2295144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Quatre identifications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995160" y="2633472"/>
            <a:ext cx="4343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Visage pour les habitués, badge pour le personnel, code pour les livraisons, QR pour un visiteur annoncé.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3474720"/>
            <a:ext cx="53949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9525">
            <a:solidFill>
              <a:srgbClr val="DDE1E7"/>
            </a:solidFill>
            <a:prstDash val="solid"/>
          </a:ln>
          <a:effectLst>
            <a:outerShdw sx="100000" sy="100000" kx="0" ky="0" algn="bl" rotWithShape="0" blurRad="76200" dist="12700" dir="5400000">
              <a:srgbClr val="9AA3AE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22960" y="3730752"/>
            <a:ext cx="365760" cy="365760"/>
          </a:xfrm>
          <a:prstGeom prst="ellipse">
            <a:avLst/>
          </a:prstGeom>
          <a:solidFill>
            <a:srgbClr val="1A1D23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22960" y="37307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325880" y="3712464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Droits programmables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325880" y="4050792"/>
            <a:ext cx="4343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 ouvre quelle porte, à quelles heures. Un livreur qui n’entre plus le dimanche est un réglage, pas une consigne.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217920" y="3474720"/>
            <a:ext cx="53949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9525">
            <a:solidFill>
              <a:srgbClr val="DDE1E7"/>
            </a:solidFill>
            <a:prstDash val="solid"/>
          </a:ln>
          <a:effectLst>
            <a:outerShdw sx="100000" sy="100000" kx="0" ky="0" algn="bl" rotWithShape="0" blurRad="76200" dist="12700" dir="5400000">
              <a:srgbClr val="9AA3AE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92240" y="3730752"/>
            <a:ext cx="365760" cy="365760"/>
          </a:xfrm>
          <a:prstGeom prst="ellipse">
            <a:avLst/>
          </a:prstGeom>
          <a:solidFill>
            <a:srgbClr val="1A1D23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492240" y="37307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6995160" y="3712464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Traçabilité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6995160" y="4050792"/>
            <a:ext cx="4343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ouverture datée et attribuée. C’est souvent ce qui sert, plus que la vidéo.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50749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ventouse sur une issue doit LIBÉRER quand tout s’arrête — coupure, alarme incendie, panique. Déverrouillage d’urgence obligatoire à l’intérieur, et classement du bâtiment à établir avant toute commande.</a:t>
            </a:r>
            <a:endParaRPr lang="en-US" sz="1250" dirty="0"/>
          </a:p>
        </p:txBody>
      </p:sp>
      <p:pic>
        <p:nvPicPr>
          <p:cNvPr id="26" name="Image 0" descr="/home/user/ngsecurity38/etudes/2026-09-22-site-industriel/deck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01400" y="6172200"/>
            <a:ext cx="475488" cy="402336"/>
          </a:xfrm>
          <a:prstGeom prst="rect">
            <a:avLst/>
          </a:prstGeom>
        </p:spPr>
      </p:pic>
      <p:sp>
        <p:nvSpPr>
          <p:cNvPr id="27" name="Text 24"/>
          <p:cNvSpPr txBox="1"/>
          <p:nvPr/>
        </p:nvSpPr>
        <p:spPr>
          <a:xfrm>
            <a:off x="548640" y="630936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 Security 38 · ETU-2026-09-22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75488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PRESTATIONS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68096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 que l’agence engage à la livraison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82496"/>
            <a:ext cx="402336" cy="402336"/>
          </a:xfrm>
          <a:prstGeom prst="ellipse">
            <a:avLst/>
          </a:prstGeom>
          <a:solidFill>
            <a:srgbClr val="1A1D2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6824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162763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Dossier technique de fin d’installation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5943600" y="1645920"/>
            <a:ext cx="5669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Implantation réelle, plan de câblage, adresses, réglages. Ce qui permet à un tiers de reprendre l’installation sans la redécouvrir.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2377440"/>
            <a:ext cx="11064240" cy="0"/>
          </a:xfrm>
          <a:prstGeom prst="line">
            <a:avLst/>
          </a:prstGeom>
          <a:noFill/>
          <a:ln w="9525">
            <a:solidFill>
              <a:srgbClr val="DDE1E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551176"/>
            <a:ext cx="402336" cy="402336"/>
          </a:xfrm>
          <a:prstGeom prst="ellipse">
            <a:avLst/>
          </a:prstGeom>
          <a:solidFill>
            <a:srgbClr val="1A1D2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25511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249631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Formation au logiciel d’exploitation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5943600" y="2514600"/>
            <a:ext cx="5669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 site, sur l’installation réelle : relecture, export d’une séquence, recherche par date, gestion des accès.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3246120"/>
            <a:ext cx="11064240" cy="0"/>
          </a:xfrm>
          <a:prstGeom prst="line">
            <a:avLst/>
          </a:prstGeom>
          <a:noFill/>
          <a:ln w="9525">
            <a:solidFill>
              <a:srgbClr val="DDE1E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3419856"/>
            <a:ext cx="402336" cy="402336"/>
          </a:xfrm>
          <a:prstGeom prst="ellipse">
            <a:avLst/>
          </a:prstGeom>
          <a:solidFill>
            <a:srgbClr val="1A1D2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34198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1097280" y="336499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Connexion de l’application sur téléphone</a:t>
            </a:r>
            <a:endParaRPr lang="en-US" sz="1450" dirty="0"/>
          </a:p>
        </p:txBody>
      </p:sp>
      <p:sp>
        <p:nvSpPr>
          <p:cNvPr id="17" name="Text 15"/>
          <p:cNvSpPr txBox="1"/>
          <p:nvPr/>
        </p:nvSpPr>
        <p:spPr>
          <a:xfrm>
            <a:off x="5943600" y="3383280"/>
            <a:ext cx="5669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Mise en service et vérification de l’accès à distance sur les téléphones désignés.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48640" y="4114800"/>
            <a:ext cx="11064240" cy="0"/>
          </a:xfrm>
          <a:prstGeom prst="line">
            <a:avLst/>
          </a:prstGeom>
          <a:noFill/>
          <a:ln w="9525">
            <a:solidFill>
              <a:srgbClr val="DDE1E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" y="4288536"/>
            <a:ext cx="402336" cy="402336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48640" y="42885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1097280" y="423367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Garantie du matériel : 3 ans</a:t>
            </a:r>
            <a:endParaRPr lang="en-US" sz="1450" dirty="0"/>
          </a:p>
        </p:txBody>
      </p:sp>
      <p:sp>
        <p:nvSpPr>
          <p:cNvPr id="22" name="Text 20"/>
          <p:cNvSpPr txBox="1"/>
          <p:nvPr/>
        </p:nvSpPr>
        <p:spPr>
          <a:xfrm>
            <a:off x="5943600" y="4251960"/>
            <a:ext cx="5669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 les matériels fournis et posés par l’agence.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48640" y="4983480"/>
            <a:ext cx="11064240" cy="0"/>
          </a:xfrm>
          <a:prstGeom prst="line">
            <a:avLst/>
          </a:prstGeom>
          <a:noFill/>
          <a:ln w="9525">
            <a:solidFill>
              <a:srgbClr val="DDE1E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8640" y="5157216"/>
            <a:ext cx="402336" cy="402336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48640" y="51572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1097280" y="510235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Maintenance gratuite : 1 an</a:t>
            </a:r>
            <a:endParaRPr lang="en-US" sz="1450" dirty="0"/>
          </a:p>
        </p:txBody>
      </p:sp>
      <p:sp>
        <p:nvSpPr>
          <p:cNvPr id="27" name="Text 25"/>
          <p:cNvSpPr txBox="1"/>
          <p:nvPr/>
        </p:nvSpPr>
        <p:spPr>
          <a:xfrm>
            <a:off x="5943600" y="5120640"/>
            <a:ext cx="5669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compter de la réception.</a:t>
            </a:r>
            <a:endParaRPr lang="en-US" sz="1150" dirty="0"/>
          </a:p>
        </p:txBody>
      </p:sp>
      <p:pic>
        <p:nvPicPr>
          <p:cNvPr id="28" name="Image 0" descr="/home/user/ngsecurity38/etudes/2026-09-22-site-industriel/deck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01400" y="6172200"/>
            <a:ext cx="475488" cy="402336"/>
          </a:xfrm>
          <a:prstGeom prst="rect">
            <a:avLst/>
          </a:prstGeom>
        </p:spPr>
      </p:pic>
      <p:sp>
        <p:nvSpPr>
          <p:cNvPr id="29" name="Text 26"/>
          <p:cNvSpPr txBox="1"/>
          <p:nvPr/>
        </p:nvSpPr>
        <p:spPr>
          <a:xfrm>
            <a:off x="548640" y="630936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 Security 38 · ETU-2026-09-22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75488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AVANT LA POSE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68096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 qu’il reste à mesurer sur place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9496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9525">
            <a:solidFill>
              <a:srgbClr val="DDE1E7"/>
            </a:solidFill>
            <a:prstDash val="solid"/>
          </a:ln>
          <a:effectLst>
            <a:outerShdw sx="100000" sy="100000" kx="0" ky="0" algn="bl" rotWithShape="0" blurRad="76200" dist="12700" dir="5400000">
              <a:srgbClr val="9AA3AE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41248" y="1892808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L’emplacement exact du local technique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841248" y="2258568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 le métré en dépend, et plus que du nombre de caméras.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217920" y="1691640"/>
            <a:ext cx="539496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9525">
            <a:solidFill>
              <a:srgbClr val="DDE1E7"/>
            </a:solidFill>
            <a:prstDash val="solid"/>
          </a:ln>
          <a:effectLst>
            <a:outerShdw sx="100000" sy="100000" kx="0" ky="0" algn="bl" rotWithShape="0" blurRad="76200" dist="12700" dir="5400000">
              <a:srgbClr val="9AA3AE">
                <a:alpha val="1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510528" y="1892808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L’arrivée 230 V à chaque coffret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6510528" y="2258568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Elle conditionne les coffrets, donc la platine et le verrouillage. Au portail, elle n’existe peut-être pas.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3063240"/>
            <a:ext cx="539496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9525">
            <a:solidFill>
              <a:srgbClr val="DDE1E7"/>
            </a:solidFill>
            <a:prstDash val="solid"/>
          </a:ln>
          <a:effectLst>
            <a:outerShdw sx="100000" sy="100000" kx="0" ky="0" algn="bl" rotWithShape="0" blurRad="76200" dist="12700" dir="5400000">
              <a:srgbClr val="9AA3AE">
                <a:alpha val="1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41248" y="3264408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classement incendie du bâtiment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841248" y="3630168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fixe les obligations de déverrouillage d’urgence sur les portes tenues par ventouse.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17920" y="3063240"/>
            <a:ext cx="539496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9525">
            <a:solidFill>
              <a:srgbClr val="DDE1E7"/>
            </a:solidFill>
            <a:prstDash val="solid"/>
          </a:ln>
          <a:effectLst>
            <a:outerShdw sx="100000" sy="100000" kx="0" ky="0" algn="bl" rotWithShape="0" blurRad="76200" dist="12700" dir="5400000">
              <a:srgbClr val="9AA3AE">
                <a:alpha val="1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510528" y="3264408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hauteurs de pose disponibles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6510528" y="3630168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Débord de toiture, descente d’eau, hauteur sous charpente.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4434840"/>
            <a:ext cx="539496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9525">
            <a:solidFill>
              <a:srgbClr val="DDE1E7"/>
            </a:solidFill>
            <a:prstDash val="solid"/>
          </a:ln>
          <a:effectLst>
            <a:outerShdw sx="100000" sy="100000" kx="0" ky="0" algn="bl" rotWithShape="0" blurRad="76200" dist="12700" dir="5400000">
              <a:srgbClr val="9AA3AE">
                <a:alpha val="18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841248" y="4636008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durée de conservation retenue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841248" y="5001768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Elle dimensionne le stockage, et c’est aussi une question juridique.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5742432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Cette étude est établie sans visite du site. Elle ne vaut pas devis : seul un relevé technique arrête le nombre de caméras, leurs emplacements définitifs et le cheminement des câbles.</a:t>
            </a:r>
            <a:endParaRPr lang="en-US" sz="1200" dirty="0"/>
          </a:p>
        </p:txBody>
      </p:sp>
      <p:pic>
        <p:nvPicPr>
          <p:cNvPr id="20" name="Image 0" descr="/home/user/ngsecurity38/etudes/2026-09-22-site-industriel/deck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01400" y="6172200"/>
            <a:ext cx="475488" cy="402336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548640" y="630936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 Security 38 · ETU-2026-09-22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1D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ngsecurity38/etudes/2026-09-22-site-industriel/deck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463040"/>
            <a:ext cx="1600200" cy="13716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77240" y="310896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Parlons du relevé.</a:t>
            </a:r>
            <a:endParaRPr lang="en-US" sz="4000" dirty="0"/>
          </a:p>
        </p:txBody>
      </p:sp>
      <p:sp>
        <p:nvSpPr>
          <p:cNvPr id="4" name="Text 1"/>
          <p:cNvSpPr txBox="1"/>
          <p:nvPr/>
        </p:nvSpPr>
        <p:spPr>
          <a:xfrm>
            <a:off x="777240" y="3977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9C0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demi-journée sur place, et cette étude devient un devis.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777240" y="4754880"/>
            <a:ext cx="7315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 Security 38 · Vidéosurveillance et alarme anti-intrusion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rue des Drillons, 89150 Vernoy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74 11 24 56 · contact@ngsecurity38.com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ngsecurity38.fr · ngsecurity38.com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SAS · SIRET 104 732 458 00013 · TVA FR30104732458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 8020Z — Activités liées aux systèmes de sécurité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Intervention France et Belgique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NG Security 38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Étude technique — vidéosurveillance</dc:title>
  <dc:subject>PptxGenJS Presentation</dc:subject>
  <dc:creator>NG Security 38</dc:creator>
  <cp:lastModifiedBy>NG Security 38</cp:lastModifiedBy>
  <cp:revision>1</cp:revision>
  <dcterms:created xsi:type="dcterms:W3CDTF">2026-09-22T20:08:48Z</dcterms:created>
  <dcterms:modified xsi:type="dcterms:W3CDTF">2026-09-22T20:08:48Z</dcterms:modified>
</cp:coreProperties>
</file>